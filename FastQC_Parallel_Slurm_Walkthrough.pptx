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EB189-BD63-1796-EA53-DB6B7D6C34DC}" v="278" dt="2026-05-15T18:54:43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ling, Amanda" userId="S::amandadarling@hsph.harvard.edu::1aa168db-3ca9-4885-a6e6-546a60c2fe4a" providerId="AD" clId="Web-{E13EB189-BD63-1796-EA53-DB6B7D6C34DC}"/>
    <pc:docChg chg="modSld">
      <pc:chgData name="Darling, Amanda" userId="S::amandadarling@hsph.harvard.edu::1aa168db-3ca9-4885-a6e6-546a60c2fe4a" providerId="AD" clId="Web-{E13EB189-BD63-1796-EA53-DB6B7D6C34DC}" dt="2026-05-15T18:54:43.023" v="267" actId="20577"/>
      <pc:docMkLst>
        <pc:docMk/>
      </pc:docMkLst>
      <pc:sldChg chg="modSp">
        <pc:chgData name="Darling, Amanda" userId="S::amandadarling@hsph.harvard.edu::1aa168db-3ca9-4885-a6e6-546a60c2fe4a" providerId="AD" clId="Web-{E13EB189-BD63-1796-EA53-DB6B7D6C34DC}" dt="2026-05-15T18:51:32.422" v="195" actId="20577"/>
        <pc:sldMkLst>
          <pc:docMk/>
          <pc:sldMk cId="0" sldId="256"/>
        </pc:sldMkLst>
        <pc:spChg chg="mod">
          <ac:chgData name="Darling, Amanda" userId="S::amandadarling@hsph.harvard.edu::1aa168db-3ca9-4885-a6e6-546a60c2fe4a" providerId="AD" clId="Web-{E13EB189-BD63-1796-EA53-DB6B7D6C34DC}" dt="2026-05-15T18:51:32.422" v="19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Darling, Amanda" userId="S::amandadarling@hsph.harvard.edu::1aa168db-3ca9-4885-a6e6-546a60c2fe4a" providerId="AD" clId="Web-{E13EB189-BD63-1796-EA53-DB6B7D6C34DC}" dt="2026-05-15T18:44:25.089" v="72" actId="20577"/>
        <pc:sldMkLst>
          <pc:docMk/>
          <pc:sldMk cId="0" sldId="257"/>
        </pc:sldMkLst>
        <pc:spChg chg="mod">
          <ac:chgData name="Darling, Amanda" userId="S::amandadarling@hsph.harvard.edu::1aa168db-3ca9-4885-a6e6-546a60c2fe4a" providerId="AD" clId="Web-{E13EB189-BD63-1796-EA53-DB6B7D6C34DC}" dt="2026-05-15T18:44:12.464" v="43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3:46.182" v="38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4:25.089" v="72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">
        <pc:chgData name="Darling, Amanda" userId="S::amandadarling@hsph.harvard.edu::1aa168db-3ca9-4885-a6e6-546a60c2fe4a" providerId="AD" clId="Web-{E13EB189-BD63-1796-EA53-DB6B7D6C34DC}" dt="2026-05-15T18:52:35.799" v="238" actId="20577"/>
        <pc:sldMkLst>
          <pc:docMk/>
          <pc:sldMk cId="0" sldId="258"/>
        </pc:sldMkLst>
        <pc:spChg chg="mod">
          <ac:chgData name="Darling, Amanda" userId="S::amandadarling@hsph.harvard.edu::1aa168db-3ca9-4885-a6e6-546a60c2fe4a" providerId="AD" clId="Web-{E13EB189-BD63-1796-EA53-DB6B7D6C34DC}" dt="2026-05-15T18:51:52.188" v="202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52:27.236" v="236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52:35.799" v="238" actId="20577"/>
          <ac:spMkLst>
            <pc:docMk/>
            <pc:sldMk cId="0" sldId="258"/>
            <ac:spMk id="22" creationId="{00000000-0000-0000-0000-000000000000}"/>
          </ac:spMkLst>
        </pc:spChg>
      </pc:sldChg>
      <pc:sldChg chg="addSp delSp modSp">
        <pc:chgData name="Darling, Amanda" userId="S::amandadarling@hsph.harvard.edu::1aa168db-3ca9-4885-a6e6-546a60c2fe4a" providerId="AD" clId="Web-{E13EB189-BD63-1796-EA53-DB6B7D6C34DC}" dt="2026-05-15T18:54:43.023" v="267" actId="20577"/>
        <pc:sldMkLst>
          <pc:docMk/>
          <pc:sldMk cId="0" sldId="260"/>
        </pc:sldMkLst>
        <pc:spChg chg="mod">
          <ac:chgData name="Darling, Amanda" userId="S::amandadarling@hsph.harvard.edu::1aa168db-3ca9-4885-a6e6-546a60c2fe4a" providerId="AD" clId="Web-{E13EB189-BD63-1796-EA53-DB6B7D6C34DC}" dt="2026-05-15T18:47:29.123" v="75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138" v="76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170" v="77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201" v="78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216" v="79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248" v="80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263" v="81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295" v="82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310" v="8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326" v="84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357" v="85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388" v="86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404" v="87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435" v="8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466" v="89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482" v="90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513" v="91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54:43.023" v="267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560" v="93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576" v="94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607" v="95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623" v="96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638" v="97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654" v="98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685" v="99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701" v="100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732" v="101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748" v="102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763" v="103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779" v="104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47:29.810" v="105" actId="107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50:43.390" v="167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Darling, Amanda" userId="S::amandadarling@hsph.harvard.edu::1aa168db-3ca9-4885-a6e6-546a60c2fe4a" providerId="AD" clId="Web-{E13EB189-BD63-1796-EA53-DB6B7D6C34DC}" dt="2026-05-15T18:50:59.250" v="172" actId="1076"/>
          <ac:spMkLst>
            <pc:docMk/>
            <pc:sldMk cId="0" sldId="260"/>
            <ac:spMk id="37" creationId="{00000000-0000-0000-0000-000000000000}"/>
          </ac:spMkLst>
        </pc:spChg>
        <pc:spChg chg="add del mod">
          <ac:chgData name="Darling, Amanda" userId="S::amandadarling@hsph.harvard.edu::1aa168db-3ca9-4885-a6e6-546a60c2fe4a" providerId="AD" clId="Web-{E13EB189-BD63-1796-EA53-DB6B7D6C34DC}" dt="2026-05-15T18:48:03.451" v="111"/>
          <ac:spMkLst>
            <pc:docMk/>
            <pc:sldMk cId="0" sldId="260"/>
            <ac:spMk id="42" creationId="{10CC327C-6306-0FA2-CE4D-35FC116A3C77}"/>
          </ac:spMkLst>
        </pc:spChg>
        <pc:spChg chg="add mod">
          <ac:chgData name="Darling, Amanda" userId="S::amandadarling@hsph.harvard.edu::1aa168db-3ca9-4885-a6e6-546a60c2fe4a" providerId="AD" clId="Web-{E13EB189-BD63-1796-EA53-DB6B7D6C34DC}" dt="2026-05-15T18:50:13.156" v="143" actId="1076"/>
          <ac:spMkLst>
            <pc:docMk/>
            <pc:sldMk cId="0" sldId="260"/>
            <ac:spMk id="44" creationId="{80C1C31D-C4A6-BF66-260F-66BED919919F}"/>
          </ac:spMkLst>
        </pc:spChg>
        <pc:spChg chg="add del mod">
          <ac:chgData name="Darling, Amanda" userId="S::amandadarling@hsph.harvard.edu::1aa168db-3ca9-4885-a6e6-546a60c2fe4a" providerId="AD" clId="Web-{E13EB189-BD63-1796-EA53-DB6B7D6C34DC}" dt="2026-05-15T18:48:50.092" v="118"/>
          <ac:spMkLst>
            <pc:docMk/>
            <pc:sldMk cId="0" sldId="260"/>
            <ac:spMk id="45" creationId="{F19743B7-FEB5-9C9E-6BDC-49F5C3F66E38}"/>
          </ac:spMkLst>
        </pc:spChg>
        <pc:spChg chg="add mod">
          <ac:chgData name="Darling, Amanda" userId="S::amandadarling@hsph.harvard.edu::1aa168db-3ca9-4885-a6e6-546a60c2fe4a" providerId="AD" clId="Web-{E13EB189-BD63-1796-EA53-DB6B7D6C34DC}" dt="2026-05-15T18:50:22.718" v="150" actId="20577"/>
          <ac:spMkLst>
            <pc:docMk/>
            <pc:sldMk cId="0" sldId="260"/>
            <ac:spMk id="46" creationId="{5257A22F-61B5-FE37-FDC7-878812EA5B6A}"/>
          </ac:spMkLst>
        </pc:spChg>
        <pc:spChg chg="add mod">
          <ac:chgData name="Darling, Amanda" userId="S::amandadarling@hsph.harvard.edu::1aa168db-3ca9-4885-a6e6-546a60c2fe4a" providerId="AD" clId="Web-{E13EB189-BD63-1796-EA53-DB6B7D6C34DC}" dt="2026-05-15T18:50:05.030" v="141" actId="1076"/>
          <ac:spMkLst>
            <pc:docMk/>
            <pc:sldMk cId="0" sldId="260"/>
            <ac:spMk id="47" creationId="{426D6719-4496-D7F4-AC44-4EE0F26023BA}"/>
          </ac:spMkLst>
        </pc:spChg>
        <pc:spChg chg="add mod">
          <ac:chgData name="Darling, Amanda" userId="S::amandadarling@hsph.harvard.edu::1aa168db-3ca9-4885-a6e6-546a60c2fe4a" providerId="AD" clId="Web-{E13EB189-BD63-1796-EA53-DB6B7D6C34DC}" dt="2026-05-15T18:50:05.046" v="142" actId="1076"/>
          <ac:spMkLst>
            <pc:docMk/>
            <pc:sldMk cId="0" sldId="260"/>
            <ac:spMk id="48" creationId="{50D7BB0B-DADD-0F43-3967-FF8B8BF38EA1}"/>
          </ac:spMkLst>
        </pc:spChg>
        <pc:spChg chg="add mod">
          <ac:chgData name="Darling, Amanda" userId="S::amandadarling@hsph.harvard.edu::1aa168db-3ca9-4885-a6e6-546a60c2fe4a" providerId="AD" clId="Web-{E13EB189-BD63-1796-EA53-DB6B7D6C34DC}" dt="2026-05-15T18:50:17.281" v="147" actId="1076"/>
          <ac:spMkLst>
            <pc:docMk/>
            <pc:sldMk cId="0" sldId="260"/>
            <ac:spMk id="49" creationId="{01CFACAA-4404-7CBC-C23A-D86432D4FFE0}"/>
          </ac:spMkLst>
        </pc:spChg>
        <pc:spChg chg="add mod">
          <ac:chgData name="Darling, Amanda" userId="S::amandadarling@hsph.harvard.edu::1aa168db-3ca9-4885-a6e6-546a60c2fe4a" providerId="AD" clId="Web-{E13EB189-BD63-1796-EA53-DB6B7D6C34DC}" dt="2026-05-15T18:50:19.546" v="149" actId="20577"/>
          <ac:spMkLst>
            <pc:docMk/>
            <pc:sldMk cId="0" sldId="260"/>
            <ac:spMk id="50" creationId="{6F86A16D-D589-D1F8-28E8-41E70BB3FE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AF1F-C4FB-41CC-B360-B7FC32B4D61F}" type="datetimeFigureOut"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BD23F-098A-4DA9-BDAE-4E7743BEEF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WALKTHROUGH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Submitting parallel jobs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 Slurm cluster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4206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three small shell scripts can run a bioinformatic workflow (ex: FastQC) on hundreds of samples in parallel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 on paired-end FASTQ files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sample at a time doesn't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3035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FastQC by hand, one after another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Ex: 200 samples × 5 min each</a:t>
            </a:r>
            <a:endParaRPr lang="en-US" sz="15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 hours of wall-clock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You have to babysit it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typo restarts the whole loop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737360"/>
            <a:ext cx="530352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ON SLURM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solidFill>
                  <a:srgbClr val="1E293B"/>
                </a:solidFill>
                <a:latin typeface="Georgia"/>
                <a:ea typeface="Georgia" pitchFamily="34" charset="-122"/>
                <a:cs typeface="Georgia" pitchFamily="34" charset="-120"/>
              </a:rPr>
              <a:t>Submit </a:t>
            </a:r>
            <a:r>
              <a:rPr lang="en-US" b="1">
                <a:solidFill>
                  <a:srgbClr val="1E293B"/>
                </a:solidFill>
                <a:latin typeface="Georgia"/>
                <a:ea typeface="Georgia" pitchFamily="34" charset="-122"/>
                <a:cs typeface="Georgia" pitchFamily="34" charset="-120"/>
              </a:rPr>
              <a:t>n </a:t>
            </a:r>
            <a:r>
              <a:rPr lang="en-US" sz="1800" b="1">
                <a:solidFill>
                  <a:srgbClr val="1E293B"/>
                </a:solidFill>
                <a:latin typeface="Georgia"/>
                <a:ea typeface="Georgia" pitchFamily="34" charset="-122"/>
                <a:cs typeface="Georgia" pitchFamily="34" charset="-120"/>
              </a:rPr>
              <a:t>jobs and walk away</a:t>
            </a:r>
            <a:r>
              <a:rPr lang="en-US" b="1">
                <a:solidFill>
                  <a:srgbClr val="1E293B"/>
                </a:solidFill>
                <a:latin typeface="Georgia"/>
                <a:ea typeface="Georgia" pitchFamily="34" charset="-122"/>
                <a:cs typeface="Georgia" pitchFamily="34" charset="-120"/>
              </a:rPr>
              <a:t> (n= # of samples)</a:t>
            </a:r>
            <a:endParaRPr lang="en-US" sz="1800" b="1">
              <a:solidFill>
                <a:srgbClr val="1E293B"/>
              </a:solidFill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is its own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runs them on whatever nodes are free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wall time ≈ time for one sample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One failure doesn't sink the rest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ea typeface="Calibri"/>
                <a:cs typeface="Calibri"/>
              </a:rPr>
              <a:t>You can submit one sample script as a test to see if it fails</a:t>
            </a:r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cluster's scheduler does the orchestration. You just need to hand it the right jobs.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template, many jobs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recipe once. Stamp out one copy per sample. Submit them all.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606040"/>
            <a:ext cx="1143000" cy="11430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6060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One script with a placeholder where the 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sample name should go. (ex: FastQC.sh)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5196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617720" y="237744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2606040"/>
            <a:ext cx="1143000" cy="1143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26060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Loop over samples, copy the template script, replace the placeholder with each name, and place the scripts in a </a:t>
            </a: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single sub-folder.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467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8412480" y="237744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2606040"/>
            <a:ext cx="1143000" cy="11430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0" y="26060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412480" y="3931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4434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Loop over generated scripts in sub-folder and </a:t>
            </a:r>
            <a:r>
              <a:rPr lang="en-US" sz="14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sbatch</a:t>
            </a:r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each one. Slurm runs them in parallel.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60-second Slurm primer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commands you'll use most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sbatch script.sh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 batch job (your script becomes a job)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squeue -u $USER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of your jobs are queued/running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scancel &lt;jobID&gt;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one of your jobs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sinfo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partitions and which nodes are free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55778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#SBATCH directives = your resource request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2331720"/>
            <a:ext cx="5120640" cy="16916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4688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-J fastqc          # job 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-c 1               # CPUs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-t 0-09:00         # walltime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--mem=4G           # memory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-p general         # partition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-o logs/%j.out     # stdout log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114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lines live at the top of every batch script. Slurm reads them and queues your job with the resources you asked for.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5166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Ask for too much and you'll wait longer in the queue. Ask for too little and your job will be killed.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scripts you'll write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570480"/>
            <a:ext cx="30175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6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makeScripts.sh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1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FastQC.sh, stamps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per sample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2844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297680" y="2250440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25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sample01.fastqc.sh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634488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634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sample02.fastqc.sh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3018536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018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sample03.fastqc.sh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3402584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402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3786632"/>
            <a:ext cx="3291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786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sampleNN.fastqc.sh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09560" y="2844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595360" y="2570480"/>
            <a:ext cx="30175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66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submitAll.sh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0" y="3119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loops over those scripts in the sub-folder (ex: </a:t>
            </a: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FastQCscripts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),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sbatches</a:t>
            </a: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each one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4947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Slurm queue → jobs run in parallel on cluster nodes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11680" y="5496560"/>
            <a:ext cx="109728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5496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5496560"/>
            <a:ext cx="109728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5496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5496560"/>
            <a:ext cx="109728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5496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5496560"/>
            <a:ext cx="109728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5496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80960" y="5496560"/>
            <a:ext cx="109728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5496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98280" y="5496560"/>
            <a:ext cx="109728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98280" y="54965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1640" y="13335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Your base script that you don't run directly: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1340" y="16078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Ex:</a:t>
            </a:r>
            <a:r>
              <a:rPr lang="en-US" sz="1300" b="1">
                <a:solidFill>
                  <a:srgbClr val="028090"/>
                </a:solidFill>
                <a:latin typeface="Consolas"/>
                <a:ea typeface="Consolas" pitchFamily="34" charset="-122"/>
                <a:cs typeface="Consolas" pitchFamily="34" charset="-120"/>
              </a:rPr>
              <a:t> FastQC.sh</a:t>
            </a:r>
            <a:r>
              <a:rPr lang="en-US" sz="13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 — the per-sample template with the BANANA placeholder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80C1C31D-C4A6-BF66-260F-66BED919919F}"/>
              </a:ext>
            </a:extLst>
          </p:cNvPr>
          <p:cNvSpPr/>
          <p:nvPr/>
        </p:nvSpPr>
        <p:spPr>
          <a:xfrm>
            <a:off x="411480" y="2415540"/>
            <a:ext cx="482600" cy="406400"/>
          </a:xfrm>
          <a:prstGeom prst="ellipse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7A22F-61B5-FE37-FDC7-878812EA5B6A}"/>
              </a:ext>
            </a:extLst>
          </p:cNvPr>
          <p:cNvSpPr txBox="1"/>
          <p:nvPr/>
        </p:nvSpPr>
        <p:spPr>
          <a:xfrm>
            <a:off x="354543" y="2418481"/>
            <a:ext cx="6008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2</a:t>
            </a:r>
            <a:endParaRPr lang="en-US" sz="2000" b="1">
              <a:latin typeface="Aptos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426D6719-4496-D7F4-AC44-4EE0F26023BA}"/>
              </a:ext>
            </a:extLst>
          </p:cNvPr>
          <p:cNvSpPr/>
          <p:nvPr/>
        </p:nvSpPr>
        <p:spPr>
          <a:xfrm>
            <a:off x="2976879" y="1336040"/>
            <a:ext cx="482600" cy="406400"/>
          </a:xfrm>
          <a:prstGeom prst="ellipse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D7BB0B-DADD-0F43-3967-FF8B8BF38EA1}"/>
              </a:ext>
            </a:extLst>
          </p:cNvPr>
          <p:cNvSpPr txBox="1"/>
          <p:nvPr/>
        </p:nvSpPr>
        <p:spPr>
          <a:xfrm>
            <a:off x="2919942" y="1338980"/>
            <a:ext cx="6008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1</a:t>
            </a:r>
            <a:endParaRPr lang="en-US" sz="2000" b="1">
              <a:latin typeface="Aptos"/>
            </a:endParaRPr>
          </a:p>
        </p:txBody>
      </p:sp>
      <p:sp>
        <p:nvSpPr>
          <p:cNvPr id="49" name="Shape 5">
            <a:extLst>
              <a:ext uri="{FF2B5EF4-FFF2-40B4-BE49-F238E27FC236}">
                <a16:creationId xmlns:a16="http://schemas.microsoft.com/office/drawing/2014/main" id="{01CFACAA-4404-7CBC-C23A-D86432D4FFE0}"/>
              </a:ext>
            </a:extLst>
          </p:cNvPr>
          <p:cNvSpPr/>
          <p:nvPr/>
        </p:nvSpPr>
        <p:spPr>
          <a:xfrm>
            <a:off x="8425180" y="2440939"/>
            <a:ext cx="482600" cy="406400"/>
          </a:xfrm>
          <a:prstGeom prst="ellipse">
            <a:avLst/>
          </a:prstGeom>
          <a:solidFill>
            <a:schemeClr val="bg1"/>
          </a:solidFill>
          <a:ln w="12700">
            <a:noFill/>
            <a:prstDash val="solid"/>
          </a:ln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86A16D-D589-D1F8-28E8-41E70BB3FE8F}"/>
              </a:ext>
            </a:extLst>
          </p:cNvPr>
          <p:cNvSpPr txBox="1"/>
          <p:nvPr/>
        </p:nvSpPr>
        <p:spPr>
          <a:xfrm>
            <a:off x="8368242" y="2443880"/>
            <a:ext cx="6008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Calibri"/>
                <a:cs typeface="Calibri"/>
              </a:rPr>
              <a:t>3</a:t>
            </a:r>
            <a:endParaRPr lang="en-US" sz="2000" b="1"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FastQC.sh — the per-sample template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special about this file: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all the SBATCH directives at the top — Slurm reads those when it queues each copy.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activates the conda env that has fastqc installed.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R1 / R2 for ONE sample, gzip-tests them, then runs fastqc.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SKIPS work that's already done — safe to re-run.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line: </a:t>
            </a: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SAMPLE="BANANA"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is a placeholder that step 2 will swap for each real sample name.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691640"/>
            <a:ext cx="5760720" cy="45262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828800"/>
            <a:ext cx="53949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-c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-t 0-09:00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--mem=4G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-p </a:t>
            </a: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PARTITION_NAME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-o /path/to/logs/%j.out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$CONDA_PROFILE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fastqc_env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SAMPLE="</a:t>
            </a: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BANANA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# &lt;-- placeholder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R1=$(find . -name "${SAMPLE}_R1.fastq.gz")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R2=$(find . -name "${SAMPLE}_R2.fastq.gz")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fastqc "$R1" "$R2" -o "$OUTDIR"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CONFIG block once. Don't touch the BANANA line.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makeScriptsForFastQC.sh — stamp out one per sample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210312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"$DATA_DIR"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-type f -name "*_R1.fastq.gz" | while read -r filepath; 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sample=$(basename "$filepath" _R1.fastq.gz)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sed "s@</a:t>
            </a: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BANANA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@${sample}@g" "$BASE_SCRIPT"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&gt; "${SCRIPT_DIR}/</a:t>
            </a: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${sample}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.fastqc.sh"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loop, line by 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4348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find every R1 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DATA_DIR recursively for files ending in _R1.fastq.gz.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443484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44348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extract the sample name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4937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basename strips the path and the suffix. "path/Sample_42_R1.fastq.gz" → "Sample_42".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4434840"/>
            <a:ext cx="35204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443484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sed swaps BANANA → sample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4937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FastQC.sh and replaces BANANA with the real name. The @ is just an alternate delimiter for sed.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runs you'll have a folder full of ready-to-submit scripts. Open one to confirm BANANA is gone.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submitAllScriptsForFastQC.sh — fire them off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274320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"$SCRIPT_DIR"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shopt -s nullglob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script_file in *.sh; do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[ -f "$script_file" ]; then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sbatch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"$script_file"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this runs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20574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every .sh in your scripts folder.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sbatch on each — Slurm assigns a job ID and queues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jobs start running as soon as resources are available, in parallel.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goes to the .out/.err files you set in the SBATCH directives.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75488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DRY_RUN="true" at the top of the submit script the first time.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prints what would be submitted without actually queuing anything — perfect for catching path typos before you flood Slurm with 200 broken jobs.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end-to-end 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1691640"/>
            <a:ext cx="5029200" cy="6400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Edit CONFIG blocks in all 3 scripts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paths, partition, conda env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51560" y="2441448"/>
            <a:ext cx="5029200" cy="6400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4414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makeScriptsForFastQC.sh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44144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script for sample: Sample_01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script for sample: Sample_02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3191256"/>
            <a:ext cx="5029200" cy="6400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19125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FastQCscripts/ | head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19125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Sample_01.fastqc.sh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Sample_02.fastqc.sh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8678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1560" y="3941064"/>
            <a:ext cx="5029200" cy="6400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9410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FastQCscripts/Sample_01.fastqc.sh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39410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SAMPLE="Sample_01"  ← confirm BANANA was replaced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3659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51560" y="4690872"/>
            <a:ext cx="5029200" cy="6400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6908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submitAllScriptsForFastQC.sh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46908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 batch job 198234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Submitted batch job 198235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51560" y="5440680"/>
            <a:ext cx="5029200" cy="64008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5440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squeue -u $USER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5440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JOBID PARTITION NAME USER ST TIME ...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198234 general fastqc you R 0:13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things break — and they will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/ SYMPTOM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691640"/>
            <a:ext cx="384048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USUALLY GOING 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1691640"/>
            <a:ext cx="41148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194560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1945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945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partition specified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1945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#SBATCH -p name doesn't exist on your cluster.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21945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sinfo to list real partitions; edit -p in FastQC.sh.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2926080" cy="749808"/>
          </a:xfrm>
          <a:prstGeom prst="rect">
            <a:avLst/>
          </a:prstGeom>
          <a:solidFill>
            <a:srgbClr val="ECF5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971800"/>
            <a:ext cx="3840480" cy="749808"/>
          </a:xfrm>
          <a:prstGeom prst="rect">
            <a:avLst/>
          </a:prstGeom>
          <a:solidFill>
            <a:srgbClr val="ECF5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971800"/>
            <a:ext cx="4114800" cy="749808"/>
          </a:xfrm>
          <a:prstGeom prst="rect">
            <a:avLst/>
          </a:prstGeom>
          <a:solidFill>
            <a:srgbClr val="ECF5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9718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fail in &lt; 1 second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29718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a path typo or wrong conda env name.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29718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.err log in your Slurm log folder. Fix the path. Re-run makeScripts.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749040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7490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490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scripts generated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37490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filenames don't match R1_SUFFIX.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37490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R1_SUFFIX (e.g. "_1.fq.gz" or ".R1.fastq.gz").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2926080" cy="749808"/>
          </a:xfrm>
          <a:prstGeom prst="rect">
            <a:avLst/>
          </a:prstGeom>
          <a:solidFill>
            <a:srgbClr val="ECF5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4526280"/>
            <a:ext cx="3840480" cy="749808"/>
          </a:xfrm>
          <a:prstGeom prst="rect">
            <a:avLst/>
          </a:prstGeom>
          <a:solidFill>
            <a:srgbClr val="ECF5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4526280"/>
            <a:ext cx="4114800" cy="749808"/>
          </a:xfrm>
          <a:prstGeom prst="rect">
            <a:avLst/>
          </a:prstGeom>
          <a:solidFill>
            <a:srgbClr val="ECF5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5262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killed: out of memory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03320" y="45262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for less RAM than fastqc needs for a big file.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45262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--mem in FastQC.sh and re-generate scripts.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2926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0" y="5303520"/>
            <a:ext cx="3840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530352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035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pending forever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53035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is busy or your request is too large.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53035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different partition or trim --mem / -t.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the .err log first. Slurm tells you exactly which path or partition it didn't like.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Slurm jobs · FastQC pattern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6424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+ Generate + Submit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have this pattern, you can swap FastQC for any per-sample tool: trimming, alignment, variant calling, you name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486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34640"/>
            <a:ext cx="73152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71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REUSE THIS PATTERN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fastqc for your tool of choice in the template.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R1_SUFFIX if your samples use different file naming.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--mem and -t to your tool's actual needs.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BANANA as the placeholder, or pick another distinctive string.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834640"/>
            <a:ext cx="5303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834640"/>
            <a:ext cx="73152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3291840"/>
            <a:ext cx="4846320" cy="283464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4290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makeScripts.sh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submit 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submitAll.sh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watch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squeue -u $USER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cancel 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scancel &lt;jobID&gt;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got this. Start small — try it with 2 samples first.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Job Submission on Slurm: The FastQC Pattern</dc:title>
  <dc:subject>PptxGenJS Presentation</dc:subject>
  <dc:creator>Amanda Darling</dc:creator>
  <cp:lastModifiedBy>Amanda Darling</cp:lastModifiedBy>
  <cp:revision>50</cp:revision>
  <dcterms:created xsi:type="dcterms:W3CDTF">2026-05-15T18:06:03Z</dcterms:created>
  <dcterms:modified xsi:type="dcterms:W3CDTF">2026-05-15T18:54:50Z</dcterms:modified>
</cp:coreProperties>
</file>